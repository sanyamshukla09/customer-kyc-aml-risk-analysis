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48" d="100"/>
          <a:sy n="48" d="100"/>
        </p:scale>
        <p:origin x="53" y="7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DCED72-0D7F-49A5-9861-989BA7F6770F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954108-CB87-4C36-A670-BD9111F070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2398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954108-CB87-4C36-A670-BD9111F0705D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09918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1. Total Customers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Business Question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Count the total number of customers in the database.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5303520" cy="4480560"/>
          </a:xfrm>
          <a:prstGeom prst="roundRect">
            <a:avLst/>
          </a:prstGeom>
          <a:solidFill>
            <a:srgbClr val="212529"/>
          </a:solidFill>
          <a:ln>
            <a:solidFill>
              <a:srgbClr val="00A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SQL CODE</a:t>
            </a: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dirty="0"/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dirty="0"/>
              <a:t>SELECT COUNT(*) AS </a:t>
            </a:r>
            <a:r>
              <a:rPr dirty="0" err="1"/>
              <a:t>Total_Customers</a:t>
            </a:r>
            <a:r>
              <a:rPr dirty="0"/>
              <a:t> </a:t>
            </a:r>
            <a:endParaRPr lang="en-IN" dirty="0"/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dirty="0"/>
              <a:t>FROM </a:t>
            </a:r>
            <a:r>
              <a:rPr dirty="0" err="1"/>
              <a:t>Customer_Master</a:t>
            </a:r>
            <a:r>
              <a:rPr dirty="0"/>
              <a:t>;</a:t>
            </a:r>
            <a:endParaRPr lang="en-IN" dirty="0"/>
          </a:p>
          <a:p>
            <a:pPr>
              <a:defRPr sz="1600">
                <a:solidFill>
                  <a:srgbClr val="B4FFB4"/>
                </a:solidFill>
              </a:defRPr>
            </a:pPr>
            <a:endParaRPr lang="en-IN" dirty="0"/>
          </a:p>
          <a:p>
            <a:pPr>
              <a:defRPr sz="1600">
                <a:solidFill>
                  <a:srgbClr val="B4FFB4"/>
                </a:solidFill>
              </a:defRPr>
            </a:pPr>
            <a:endParaRPr lang="en-IN" dirty="0"/>
          </a:p>
          <a:p>
            <a:pPr>
              <a:defRPr sz="1600">
                <a:solidFill>
                  <a:srgbClr val="B4FFB4"/>
                </a:solidFill>
              </a:defRPr>
            </a:pPr>
            <a:endParaRPr lang="en-IN" dirty="0"/>
          </a:p>
          <a:p>
            <a:pPr>
              <a:defRPr sz="1600">
                <a:solidFill>
                  <a:srgbClr val="B4FFB4"/>
                </a:solidFill>
              </a:defRPr>
            </a:pPr>
            <a:endParaRPr lang="en-IN" dirty="0"/>
          </a:p>
          <a:p>
            <a:pPr>
              <a:defRPr sz="1600">
                <a:solidFill>
                  <a:srgbClr val="B4FFB4"/>
                </a:solidFill>
              </a:defRPr>
            </a:pPr>
            <a:endParaRPr lang="en-IN" dirty="0"/>
          </a:p>
          <a:p>
            <a:pPr>
              <a:defRPr sz="1600">
                <a:solidFill>
                  <a:srgbClr val="B4FFB4"/>
                </a:solidFill>
              </a:defRPr>
            </a:pPr>
            <a:endParaRPr lang="en-IN" dirty="0"/>
          </a:p>
          <a:p>
            <a:pPr>
              <a:defRPr sz="1600">
                <a:solidFill>
                  <a:srgbClr val="B4FFB4"/>
                </a:solidFill>
              </a:defRPr>
            </a:pPr>
            <a:endParaRPr lang="en-IN" dirty="0"/>
          </a:p>
          <a:p>
            <a:pPr>
              <a:defRPr sz="1600">
                <a:solidFill>
                  <a:srgbClr val="B4FFB4"/>
                </a:solidFill>
              </a:defRPr>
            </a:pP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6153785" y="1626326"/>
            <a:ext cx="5577840" cy="4480560"/>
          </a:xfrm>
          <a:prstGeom prst="roundRect">
            <a:avLst/>
          </a:prstGeom>
          <a:solidFill>
            <a:srgbClr val="1C1C1C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QUERY OUTPUT</a:t>
            </a: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 </a:t>
            </a:r>
          </a:p>
          <a:p>
            <a:br>
              <a:rPr dirty="0"/>
            </a:br>
            <a:br>
              <a:rPr dirty="0"/>
            </a:b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7FA6F1-6150-065D-ABFA-CDEE150721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8667" y="2630286"/>
            <a:ext cx="3528327" cy="29376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2F91CE1-09A9-CCA3-0C14-7A728122268D}"/>
              </a:ext>
            </a:extLst>
          </p:cNvPr>
          <p:cNvSpPr txBox="1"/>
          <p:nvPr/>
        </p:nvSpPr>
        <p:spPr>
          <a:xfrm>
            <a:off x="1047136" y="6341877"/>
            <a:ext cx="1127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Recommendation: Maintain a single, validated customer master and perform periodic data quality checks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2. KYC Status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Business Question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Summarize customers by KYC status.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5303520" cy="4480560"/>
          </a:xfrm>
          <a:prstGeom prst="roundRect">
            <a:avLst/>
          </a:prstGeom>
          <a:solidFill>
            <a:srgbClr val="212529"/>
          </a:solidFill>
          <a:ln>
            <a:solidFill>
              <a:srgbClr val="00A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SQL CODE</a:t>
            </a: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dirty="0"/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dirty="0"/>
              <a:t>SELECT </a:t>
            </a:r>
            <a:r>
              <a:rPr dirty="0" err="1"/>
              <a:t>KYC_Status</a:t>
            </a:r>
            <a:r>
              <a:rPr dirty="0"/>
              <a:t>, COUNT(*) </a:t>
            </a:r>
            <a:endParaRPr lang="en-IN" dirty="0"/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dirty="0"/>
              <a:t>FROM </a:t>
            </a:r>
            <a:r>
              <a:rPr dirty="0" err="1"/>
              <a:t>KYC_Documents</a:t>
            </a:r>
            <a:endParaRPr lang="en-IN" dirty="0"/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dirty="0"/>
              <a:t> GROUP BY </a:t>
            </a:r>
            <a:r>
              <a:rPr dirty="0" err="1"/>
              <a:t>KYC_Status</a:t>
            </a:r>
            <a:r>
              <a:rPr dirty="0"/>
              <a:t>;</a:t>
            </a:r>
            <a:endParaRPr lang="en-IN" dirty="0"/>
          </a:p>
          <a:p>
            <a:pPr>
              <a:defRPr sz="1600">
                <a:solidFill>
                  <a:srgbClr val="B4FFB4"/>
                </a:solidFill>
              </a:defRPr>
            </a:pPr>
            <a:endParaRPr lang="en-IN" dirty="0"/>
          </a:p>
          <a:p>
            <a:pPr>
              <a:defRPr sz="1600">
                <a:solidFill>
                  <a:srgbClr val="B4FFB4"/>
                </a:solidFill>
              </a:defRPr>
            </a:pPr>
            <a:endParaRPr lang="en-IN" dirty="0"/>
          </a:p>
          <a:p>
            <a:pPr>
              <a:defRPr sz="1600">
                <a:solidFill>
                  <a:srgbClr val="B4FFB4"/>
                </a:solidFill>
              </a:defRPr>
            </a:pPr>
            <a:endParaRPr lang="en-IN" dirty="0"/>
          </a:p>
          <a:p>
            <a:pPr>
              <a:defRPr sz="1600">
                <a:solidFill>
                  <a:srgbClr val="B4FFB4"/>
                </a:solidFill>
              </a:defRPr>
            </a:pPr>
            <a:endParaRPr lang="en-IN" dirty="0"/>
          </a:p>
          <a:p>
            <a:pPr>
              <a:defRPr sz="1600">
                <a:solidFill>
                  <a:srgbClr val="B4FFB4"/>
                </a:solidFill>
              </a:defRPr>
            </a:pPr>
            <a:endParaRPr lang="en-IN" dirty="0"/>
          </a:p>
          <a:p>
            <a:pPr>
              <a:defRPr sz="1600">
                <a:solidFill>
                  <a:srgbClr val="B4FFB4"/>
                </a:solidFill>
              </a:defRPr>
            </a:pP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577840" cy="4480560"/>
          </a:xfrm>
          <a:prstGeom prst="roundRect">
            <a:avLst/>
          </a:prstGeom>
          <a:solidFill>
            <a:srgbClr val="1C1C1C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QUERY OUTPUT</a:t>
            </a: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 </a:t>
            </a:r>
            <a:br>
              <a:rPr dirty="0"/>
            </a:br>
            <a:br>
              <a:rPr dirty="0"/>
            </a:b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B2AF88-BCAE-5981-6F2C-AFC49BA72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7366" y="2900516"/>
            <a:ext cx="3867387" cy="253480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98DB975-7DFA-4CD0-0ED0-62467CD46275}"/>
              </a:ext>
            </a:extLst>
          </p:cNvPr>
          <p:cNvSpPr txBox="1"/>
          <p:nvPr/>
        </p:nvSpPr>
        <p:spPr>
          <a:xfrm>
            <a:off x="1870587" y="6312667"/>
            <a:ext cx="8146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Recommendation: Prioritize pending and rejected cases to improve compliance rates.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3. Pending KYC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Business Question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List customers with pending KYC.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5303520" cy="4480560"/>
          </a:xfrm>
          <a:prstGeom prst="roundRect">
            <a:avLst/>
          </a:prstGeom>
          <a:solidFill>
            <a:srgbClr val="212529"/>
          </a:solidFill>
          <a:ln>
            <a:solidFill>
              <a:srgbClr val="00A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SQL CODE</a:t>
            </a: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dirty="0"/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IN" dirty="0"/>
              <a:t>SELECT</a:t>
            </a:r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IN" dirty="0"/>
              <a:t>    </a:t>
            </a:r>
            <a:r>
              <a:rPr lang="en-IN" dirty="0" err="1"/>
              <a:t>c.Customer_ID</a:t>
            </a:r>
            <a:r>
              <a:rPr lang="en-IN" dirty="0"/>
              <a:t>,</a:t>
            </a:r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IN" dirty="0"/>
              <a:t>    </a:t>
            </a:r>
            <a:r>
              <a:rPr lang="en-IN" dirty="0" err="1"/>
              <a:t>c.Customer_Name</a:t>
            </a:r>
            <a:r>
              <a:rPr lang="en-IN" dirty="0"/>
              <a:t>,</a:t>
            </a:r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IN" dirty="0"/>
              <a:t>    </a:t>
            </a:r>
            <a:r>
              <a:rPr lang="en-IN" dirty="0" err="1"/>
              <a:t>k.KYC_Status</a:t>
            </a:r>
            <a:endParaRPr lang="en-IN" dirty="0"/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IN" dirty="0"/>
              <a:t>FROM </a:t>
            </a:r>
            <a:r>
              <a:rPr lang="en-IN" dirty="0" err="1"/>
              <a:t>Customer_Master</a:t>
            </a:r>
            <a:r>
              <a:rPr lang="en-IN" dirty="0"/>
              <a:t> c</a:t>
            </a:r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IN" dirty="0"/>
              <a:t>    JOIN </a:t>
            </a:r>
            <a:r>
              <a:rPr lang="en-IN" dirty="0" err="1"/>
              <a:t>KYC_Documents</a:t>
            </a:r>
            <a:r>
              <a:rPr lang="en-IN" dirty="0"/>
              <a:t> k</a:t>
            </a:r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IN" dirty="0"/>
              <a:t>    ON </a:t>
            </a:r>
            <a:r>
              <a:rPr lang="en-IN" dirty="0" err="1"/>
              <a:t>c.Customer_ID</a:t>
            </a:r>
            <a:r>
              <a:rPr lang="en-IN" dirty="0"/>
              <a:t> = </a:t>
            </a:r>
            <a:r>
              <a:rPr lang="en-IN" dirty="0" err="1"/>
              <a:t>k.Customer_ID</a:t>
            </a:r>
            <a:endParaRPr lang="en-IN" dirty="0"/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IN" dirty="0"/>
              <a:t>    WHERE </a:t>
            </a:r>
            <a:r>
              <a:rPr lang="en-IN" dirty="0" err="1"/>
              <a:t>k.KYC_Status</a:t>
            </a:r>
            <a:r>
              <a:rPr lang="en-IN" dirty="0"/>
              <a:t> = 'Pending’;</a:t>
            </a:r>
          </a:p>
          <a:p>
            <a:pPr>
              <a:defRPr sz="1600">
                <a:solidFill>
                  <a:srgbClr val="B4FFB4"/>
                </a:solidFill>
              </a:defRPr>
            </a:pPr>
            <a:endParaRPr lang="en-IN" dirty="0"/>
          </a:p>
          <a:p>
            <a:pPr>
              <a:defRPr sz="1600">
                <a:solidFill>
                  <a:srgbClr val="B4FFB4"/>
                </a:solidFill>
              </a:defRPr>
            </a:pPr>
            <a:endParaRPr lang="en-IN" dirty="0"/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IN" dirty="0"/>
              <a:t> 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577840" cy="4480560"/>
          </a:xfrm>
          <a:prstGeom prst="roundRect">
            <a:avLst/>
          </a:prstGeom>
          <a:solidFill>
            <a:srgbClr val="1C1C1C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QUERY OUTPUT</a:t>
            </a: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F08A2A-838D-2144-08BE-55A0CDB3E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4362" y="2678740"/>
            <a:ext cx="3061310" cy="318247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B183F06-8361-3ACA-D037-3614ABC826A3}"/>
              </a:ext>
            </a:extLst>
          </p:cNvPr>
          <p:cNvSpPr txBox="1"/>
          <p:nvPr/>
        </p:nvSpPr>
        <p:spPr>
          <a:xfrm>
            <a:off x="1239641" y="6341877"/>
            <a:ext cx="1127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Recommendation: Contact customers for missing documents and track completion through SLAs.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4. Expired Documents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Business Question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Find customers with expired KYC documents.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5303520" cy="4480560"/>
          </a:xfrm>
          <a:prstGeom prst="roundRect">
            <a:avLst/>
          </a:prstGeom>
          <a:solidFill>
            <a:srgbClr val="212529"/>
          </a:solidFill>
          <a:ln>
            <a:solidFill>
              <a:srgbClr val="00A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SQL CODE</a:t>
            </a: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dirty="0"/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IN" dirty="0"/>
              <a:t>SELECT</a:t>
            </a:r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IN" dirty="0"/>
              <a:t>    </a:t>
            </a:r>
            <a:r>
              <a:rPr lang="en-IN" dirty="0" err="1"/>
              <a:t>c.Customer_ID</a:t>
            </a:r>
            <a:r>
              <a:rPr lang="en-IN" dirty="0"/>
              <a:t>,</a:t>
            </a:r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IN" dirty="0"/>
              <a:t>    </a:t>
            </a:r>
            <a:r>
              <a:rPr lang="en-IN" dirty="0" err="1"/>
              <a:t>c.Customer_Name</a:t>
            </a:r>
            <a:r>
              <a:rPr lang="en-IN" dirty="0"/>
              <a:t>,</a:t>
            </a:r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IN" dirty="0"/>
              <a:t>    </a:t>
            </a:r>
            <a:r>
              <a:rPr lang="en-IN" dirty="0" err="1"/>
              <a:t>k.Expiry_Date</a:t>
            </a:r>
            <a:endParaRPr lang="en-IN" dirty="0"/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IN" dirty="0"/>
              <a:t>FROM </a:t>
            </a:r>
            <a:r>
              <a:rPr lang="en-IN" dirty="0" err="1"/>
              <a:t>Customer_Master</a:t>
            </a:r>
            <a:r>
              <a:rPr lang="en-IN" dirty="0"/>
              <a:t> c</a:t>
            </a:r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IN" dirty="0"/>
              <a:t>JOIN </a:t>
            </a:r>
            <a:r>
              <a:rPr lang="en-IN" dirty="0" err="1"/>
              <a:t>KYC_Documents</a:t>
            </a:r>
            <a:r>
              <a:rPr lang="en-IN" dirty="0"/>
              <a:t> k</a:t>
            </a:r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IN" dirty="0"/>
              <a:t>ON </a:t>
            </a:r>
            <a:r>
              <a:rPr lang="en-IN" dirty="0" err="1"/>
              <a:t>c.Customer_ID</a:t>
            </a:r>
            <a:r>
              <a:rPr lang="en-IN" dirty="0"/>
              <a:t> = </a:t>
            </a:r>
            <a:r>
              <a:rPr lang="en-IN" dirty="0" err="1"/>
              <a:t>k.Customer_ID</a:t>
            </a:r>
            <a:endParaRPr lang="en-IN" dirty="0"/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IN" dirty="0"/>
              <a:t>WHERE </a:t>
            </a:r>
            <a:r>
              <a:rPr lang="en-IN" dirty="0" err="1"/>
              <a:t>k.Expiry_Date</a:t>
            </a:r>
            <a:r>
              <a:rPr lang="en-IN" dirty="0"/>
              <a:t> &lt; CURDATE();</a:t>
            </a:r>
          </a:p>
          <a:p>
            <a:pPr>
              <a:defRPr sz="1600">
                <a:solidFill>
                  <a:srgbClr val="B4FFB4"/>
                </a:solidFill>
              </a:defRPr>
            </a:pPr>
            <a:endParaRPr lang="en-IN" dirty="0"/>
          </a:p>
          <a:p>
            <a:pPr>
              <a:defRPr sz="1600">
                <a:solidFill>
                  <a:srgbClr val="B4FFB4"/>
                </a:solidFill>
              </a:defRPr>
            </a:pPr>
            <a:endParaRPr lang="en-IN" dirty="0"/>
          </a:p>
          <a:p>
            <a:pPr>
              <a:defRPr sz="1600">
                <a:solidFill>
                  <a:srgbClr val="B4FFB4"/>
                </a:solidFill>
              </a:defRPr>
            </a:pP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577840" cy="4480560"/>
          </a:xfrm>
          <a:prstGeom prst="roundRect">
            <a:avLst/>
          </a:prstGeom>
          <a:solidFill>
            <a:srgbClr val="1C1C1C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QUERY OUTPUT</a:t>
            </a: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 </a:t>
            </a: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CD2A59-C29A-7806-200B-E35E6B45A1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6206" y="2600659"/>
            <a:ext cx="3176675" cy="323776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0A06D18-A44A-7DD3-AA10-5B56A4D93A31}"/>
              </a:ext>
            </a:extLst>
          </p:cNvPr>
          <p:cNvSpPr txBox="1"/>
          <p:nvPr/>
        </p:nvSpPr>
        <p:spPr>
          <a:xfrm>
            <a:off x="1963954" y="6298130"/>
            <a:ext cx="7959291" cy="390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dirty="0">
                <a:solidFill>
                  <a:schemeClr val="bg1"/>
                </a:solidFill>
              </a:rPr>
              <a:t>Recommendation: Trigger automated renewal reminders before document expiry.</a:t>
            </a:r>
            <a:endParaRPr lang="en-IN" sz="1800" dirty="0">
              <a:solidFill>
                <a:schemeClr val="bg1"/>
              </a:solidFill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5. High-Risk Customers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Business Question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Identify high-risk customers.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5303520" cy="4480560"/>
          </a:xfrm>
          <a:prstGeom prst="roundRect">
            <a:avLst/>
          </a:prstGeom>
          <a:solidFill>
            <a:srgbClr val="212529"/>
          </a:solidFill>
          <a:ln>
            <a:solidFill>
              <a:srgbClr val="00A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SQL CODE</a:t>
            </a: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dirty="0"/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IN" dirty="0"/>
              <a:t>SELECT</a:t>
            </a:r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IN" dirty="0"/>
              <a:t>    </a:t>
            </a:r>
            <a:r>
              <a:rPr lang="en-IN" dirty="0" err="1"/>
              <a:t>c.Customer_ID</a:t>
            </a:r>
            <a:r>
              <a:rPr lang="en-IN" dirty="0"/>
              <a:t>,</a:t>
            </a:r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IN" dirty="0"/>
              <a:t>    </a:t>
            </a:r>
            <a:r>
              <a:rPr lang="en-IN" dirty="0" err="1"/>
              <a:t>c.Customer_Name</a:t>
            </a:r>
            <a:r>
              <a:rPr lang="en-IN" dirty="0"/>
              <a:t>,</a:t>
            </a:r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IN" dirty="0"/>
              <a:t>    </a:t>
            </a:r>
            <a:r>
              <a:rPr lang="en-IN" dirty="0" err="1"/>
              <a:t>a.Risk_Level</a:t>
            </a:r>
            <a:r>
              <a:rPr lang="en-IN" dirty="0"/>
              <a:t>,</a:t>
            </a:r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IN" dirty="0"/>
              <a:t>    </a:t>
            </a:r>
            <a:r>
              <a:rPr lang="en-IN" dirty="0" err="1"/>
              <a:t>a.Risk_Score</a:t>
            </a:r>
            <a:endParaRPr lang="en-IN" dirty="0"/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IN" dirty="0"/>
              <a:t>FROM </a:t>
            </a:r>
            <a:r>
              <a:rPr lang="en-IN" dirty="0" err="1"/>
              <a:t>Customer_Master</a:t>
            </a:r>
            <a:r>
              <a:rPr lang="en-IN" dirty="0"/>
              <a:t> c</a:t>
            </a:r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IN" dirty="0"/>
              <a:t>JOIN </a:t>
            </a:r>
            <a:r>
              <a:rPr lang="en-IN" dirty="0" err="1"/>
              <a:t>AML_Risk</a:t>
            </a:r>
            <a:r>
              <a:rPr lang="en-IN" dirty="0"/>
              <a:t> a</a:t>
            </a:r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IN" dirty="0"/>
              <a:t>ON </a:t>
            </a:r>
            <a:r>
              <a:rPr lang="en-IN" dirty="0" err="1"/>
              <a:t>c.Customer_ID</a:t>
            </a:r>
            <a:r>
              <a:rPr lang="en-IN" dirty="0"/>
              <a:t> = </a:t>
            </a:r>
            <a:r>
              <a:rPr lang="en-IN" dirty="0" err="1"/>
              <a:t>a.Customer_ID</a:t>
            </a:r>
            <a:endParaRPr lang="en-IN" dirty="0"/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IN" dirty="0"/>
              <a:t>WHERE </a:t>
            </a:r>
            <a:r>
              <a:rPr lang="en-IN" dirty="0" err="1"/>
              <a:t>a.Risk_Level</a:t>
            </a:r>
            <a:r>
              <a:rPr lang="en-IN" dirty="0"/>
              <a:t> = 'High'</a:t>
            </a:r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IN" dirty="0"/>
              <a:t>ORDER BY </a:t>
            </a:r>
            <a:r>
              <a:rPr lang="en-IN" dirty="0" err="1"/>
              <a:t>a.Risk_Score</a:t>
            </a:r>
            <a:r>
              <a:rPr lang="en-IN" dirty="0"/>
              <a:t> DESC;</a:t>
            </a:r>
          </a:p>
          <a:p>
            <a:pPr>
              <a:defRPr sz="1600">
                <a:solidFill>
                  <a:srgbClr val="B4FFB4"/>
                </a:solidFill>
              </a:defRPr>
            </a:pPr>
            <a:endParaRPr lang="en-IN" dirty="0"/>
          </a:p>
          <a:p>
            <a:pPr>
              <a:defRPr sz="1600">
                <a:solidFill>
                  <a:srgbClr val="B4FFB4"/>
                </a:solidFill>
              </a:defRPr>
            </a:pP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577840" cy="4480560"/>
          </a:xfrm>
          <a:prstGeom prst="roundRect">
            <a:avLst/>
          </a:prstGeom>
          <a:solidFill>
            <a:srgbClr val="1C1C1C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QUERY OUTPUT</a:t>
            </a: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 </a:t>
            </a: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0B838E2-C1F1-8623-4C6A-DFE5D01E7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1071" y="2576000"/>
            <a:ext cx="3765755" cy="314098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4DA8DBD-13FD-8E03-0204-CA0B6DB9D1A9}"/>
              </a:ext>
            </a:extLst>
          </p:cNvPr>
          <p:cNvSpPr txBox="1"/>
          <p:nvPr/>
        </p:nvSpPr>
        <p:spPr>
          <a:xfrm>
            <a:off x="1515978" y="6337887"/>
            <a:ext cx="94728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Recommendation: Apply Enhanced Due Diligence (EDD) and increase monitoring frequency.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6. PEP Customers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Business Question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Identify Politically Exposed Persons.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5303520" cy="4480560"/>
          </a:xfrm>
          <a:prstGeom prst="roundRect">
            <a:avLst/>
          </a:prstGeom>
          <a:solidFill>
            <a:srgbClr val="212529"/>
          </a:solidFill>
          <a:ln>
            <a:solidFill>
              <a:srgbClr val="00A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SQL CODE</a:t>
            </a: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dirty="0"/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IN" dirty="0"/>
              <a:t>SELECT</a:t>
            </a:r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IN" dirty="0"/>
              <a:t>    </a:t>
            </a:r>
            <a:r>
              <a:rPr lang="en-IN" dirty="0" err="1"/>
              <a:t>c.Customer_ID</a:t>
            </a:r>
            <a:r>
              <a:rPr lang="en-IN" dirty="0"/>
              <a:t>,</a:t>
            </a:r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IN" dirty="0"/>
              <a:t>    </a:t>
            </a:r>
            <a:r>
              <a:rPr lang="en-IN" dirty="0" err="1"/>
              <a:t>c.Customer_Name</a:t>
            </a:r>
            <a:r>
              <a:rPr lang="en-IN" dirty="0"/>
              <a:t>,</a:t>
            </a:r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IN" dirty="0"/>
              <a:t>    </a:t>
            </a:r>
            <a:r>
              <a:rPr lang="en-IN" dirty="0" err="1"/>
              <a:t>a.PEP</a:t>
            </a:r>
            <a:endParaRPr lang="en-IN" dirty="0"/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IN" dirty="0"/>
              <a:t>FROM </a:t>
            </a:r>
            <a:r>
              <a:rPr lang="en-IN" dirty="0" err="1"/>
              <a:t>Customer_Master</a:t>
            </a:r>
            <a:r>
              <a:rPr lang="en-IN" dirty="0"/>
              <a:t> c</a:t>
            </a:r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IN" dirty="0"/>
              <a:t>JOIN </a:t>
            </a:r>
            <a:r>
              <a:rPr lang="en-IN" dirty="0" err="1"/>
              <a:t>AML_Risk</a:t>
            </a:r>
            <a:r>
              <a:rPr lang="en-IN" dirty="0"/>
              <a:t> a</a:t>
            </a:r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IN" dirty="0"/>
              <a:t>ON </a:t>
            </a:r>
            <a:r>
              <a:rPr lang="en-IN" dirty="0" err="1"/>
              <a:t>c.Customer_ID</a:t>
            </a:r>
            <a:r>
              <a:rPr lang="en-IN" dirty="0"/>
              <a:t> = </a:t>
            </a:r>
            <a:r>
              <a:rPr lang="en-IN" dirty="0" err="1"/>
              <a:t>a.Customer_ID</a:t>
            </a:r>
            <a:endParaRPr lang="en-IN" dirty="0"/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IN" dirty="0"/>
              <a:t>WHERE </a:t>
            </a:r>
            <a:r>
              <a:rPr lang="en-IN" dirty="0" err="1"/>
              <a:t>a.PEP</a:t>
            </a:r>
            <a:r>
              <a:rPr lang="en-IN" dirty="0"/>
              <a:t> = 'Yes’;</a:t>
            </a:r>
          </a:p>
          <a:p>
            <a:pPr>
              <a:defRPr sz="1600">
                <a:solidFill>
                  <a:srgbClr val="B4FFB4"/>
                </a:solidFill>
              </a:defRPr>
            </a:pPr>
            <a:endParaRPr lang="en-IN" dirty="0"/>
          </a:p>
          <a:p>
            <a:pPr>
              <a:defRPr sz="1600">
                <a:solidFill>
                  <a:srgbClr val="B4FFB4"/>
                </a:solidFill>
              </a:defRPr>
            </a:pPr>
            <a:endParaRPr lang="en-IN" dirty="0"/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577840" cy="4480560"/>
          </a:xfrm>
          <a:prstGeom prst="roundRect">
            <a:avLst/>
          </a:prstGeom>
          <a:solidFill>
            <a:srgbClr val="1C1C1C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QUERY OUTPUT</a:t>
            </a: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244AC1-5205-0CC2-3488-5215DA1C25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7549" y="2514600"/>
            <a:ext cx="3372874" cy="34626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202CFD2-0ABE-BC33-831C-C0F852E314CE}"/>
              </a:ext>
            </a:extLst>
          </p:cNvPr>
          <p:cNvSpPr txBox="1"/>
          <p:nvPr/>
        </p:nvSpPr>
        <p:spPr>
          <a:xfrm>
            <a:off x="1361156" y="6351508"/>
            <a:ext cx="91648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Recommendation: Conduct periodic reviews and obtain management approval where required.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7. Sanction Matches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Business Question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Identify sanction matches.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5303520" cy="4480560"/>
          </a:xfrm>
          <a:prstGeom prst="roundRect">
            <a:avLst/>
          </a:prstGeom>
          <a:solidFill>
            <a:srgbClr val="212529"/>
          </a:solidFill>
          <a:ln>
            <a:solidFill>
              <a:srgbClr val="00A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SQL CODE</a:t>
            </a: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dirty="0"/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US" dirty="0"/>
              <a:t>SELECT</a:t>
            </a:r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US" dirty="0"/>
              <a:t>    </a:t>
            </a:r>
            <a:r>
              <a:rPr lang="en-US" dirty="0" err="1"/>
              <a:t>c.Customer_ID</a:t>
            </a:r>
            <a:r>
              <a:rPr lang="en-US" dirty="0"/>
              <a:t>,</a:t>
            </a:r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US" dirty="0"/>
              <a:t>    </a:t>
            </a:r>
            <a:r>
              <a:rPr lang="en-US" dirty="0" err="1"/>
              <a:t>c.Customer_Name</a:t>
            </a:r>
            <a:endParaRPr lang="en-US" dirty="0"/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US" dirty="0"/>
              <a:t>FROM </a:t>
            </a:r>
            <a:r>
              <a:rPr lang="en-US" dirty="0" err="1"/>
              <a:t>Customer_Master</a:t>
            </a:r>
            <a:r>
              <a:rPr lang="en-US" dirty="0"/>
              <a:t> c</a:t>
            </a:r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US" dirty="0"/>
              <a:t>JOIN </a:t>
            </a:r>
            <a:r>
              <a:rPr lang="en-US" dirty="0" err="1"/>
              <a:t>AML_Risk</a:t>
            </a:r>
            <a:r>
              <a:rPr lang="en-US" dirty="0"/>
              <a:t> a</a:t>
            </a:r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US" dirty="0"/>
              <a:t>ON </a:t>
            </a:r>
            <a:r>
              <a:rPr lang="en-US" dirty="0" err="1"/>
              <a:t>c.Customer_ID</a:t>
            </a:r>
            <a:r>
              <a:rPr lang="en-US" dirty="0"/>
              <a:t> = </a:t>
            </a:r>
            <a:r>
              <a:rPr lang="en-US" dirty="0" err="1"/>
              <a:t>a.Customer_ID</a:t>
            </a:r>
            <a:endParaRPr lang="en-US" dirty="0"/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US" dirty="0"/>
              <a:t>WHERE </a:t>
            </a:r>
            <a:r>
              <a:rPr lang="en-US" dirty="0" err="1"/>
              <a:t>a.Sanction_Match</a:t>
            </a:r>
            <a:r>
              <a:rPr lang="en-US" dirty="0"/>
              <a:t> = 'Yes’;</a:t>
            </a:r>
          </a:p>
          <a:p>
            <a:pPr>
              <a:defRPr sz="1600">
                <a:solidFill>
                  <a:srgbClr val="B4FFB4"/>
                </a:solidFill>
              </a:defRPr>
            </a:pPr>
            <a:endParaRPr lang="en-US" dirty="0"/>
          </a:p>
          <a:p>
            <a:pPr>
              <a:defRPr sz="1600">
                <a:solidFill>
                  <a:srgbClr val="B4FFB4"/>
                </a:solidFill>
              </a:defRPr>
            </a:pP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577840" cy="4480560"/>
          </a:xfrm>
          <a:prstGeom prst="roundRect">
            <a:avLst/>
          </a:prstGeom>
          <a:solidFill>
            <a:srgbClr val="1C1C1C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QUERY OUTPUT</a:t>
            </a: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47BA09-BAF5-2F3A-7C65-0D4ECB986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1714" y="2739438"/>
            <a:ext cx="2667372" cy="313042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7D17AB5-6874-D64C-D413-E948A01AA6DB}"/>
              </a:ext>
            </a:extLst>
          </p:cNvPr>
          <p:cNvSpPr txBox="1"/>
          <p:nvPr/>
        </p:nvSpPr>
        <p:spPr>
          <a:xfrm>
            <a:off x="2185737" y="6351508"/>
            <a:ext cx="75157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Recommendation: Escalate confirmed matches according to compliance policy.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8. High-Risk Country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Business Question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Find customers flagged for high-risk countries.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5303520" cy="4480560"/>
          </a:xfrm>
          <a:prstGeom prst="roundRect">
            <a:avLst/>
          </a:prstGeom>
          <a:solidFill>
            <a:srgbClr val="212529"/>
          </a:solidFill>
          <a:ln>
            <a:solidFill>
              <a:srgbClr val="00A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SQL CODE</a:t>
            </a: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dirty="0"/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US" dirty="0"/>
              <a:t>SELECT</a:t>
            </a:r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US" dirty="0"/>
              <a:t>    </a:t>
            </a:r>
            <a:r>
              <a:rPr lang="en-US" dirty="0" err="1"/>
              <a:t>c.Customer_ID</a:t>
            </a:r>
            <a:r>
              <a:rPr lang="en-US" dirty="0"/>
              <a:t>,</a:t>
            </a:r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US" dirty="0"/>
              <a:t>    </a:t>
            </a:r>
            <a:r>
              <a:rPr lang="en-US" dirty="0" err="1"/>
              <a:t>c.Customer_Name</a:t>
            </a:r>
            <a:r>
              <a:rPr lang="en-US" dirty="0"/>
              <a:t>,</a:t>
            </a:r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US" dirty="0"/>
              <a:t>    </a:t>
            </a:r>
            <a:r>
              <a:rPr lang="en-US" dirty="0" err="1"/>
              <a:t>c.Country</a:t>
            </a:r>
            <a:endParaRPr lang="en-US" dirty="0"/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US" dirty="0"/>
              <a:t>FROM </a:t>
            </a:r>
            <a:r>
              <a:rPr lang="en-US" dirty="0" err="1"/>
              <a:t>Customer_Master</a:t>
            </a:r>
            <a:r>
              <a:rPr lang="en-US" dirty="0"/>
              <a:t> c</a:t>
            </a:r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US" dirty="0"/>
              <a:t>JOIN </a:t>
            </a:r>
            <a:r>
              <a:rPr lang="en-US" dirty="0" err="1"/>
              <a:t>AML_Risk</a:t>
            </a:r>
            <a:r>
              <a:rPr lang="en-US" dirty="0"/>
              <a:t> a</a:t>
            </a:r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US" dirty="0"/>
              <a:t>ON </a:t>
            </a:r>
            <a:r>
              <a:rPr lang="en-US" dirty="0" err="1"/>
              <a:t>c.Customer_ID</a:t>
            </a:r>
            <a:r>
              <a:rPr lang="en-US" dirty="0"/>
              <a:t> = </a:t>
            </a:r>
            <a:r>
              <a:rPr lang="en-US" dirty="0" err="1"/>
              <a:t>a.Customer_ID</a:t>
            </a:r>
            <a:endParaRPr lang="en-US" dirty="0"/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US" dirty="0"/>
              <a:t>WHERE </a:t>
            </a:r>
            <a:r>
              <a:rPr lang="en-US" dirty="0" err="1"/>
              <a:t>a.High_Risk_Country</a:t>
            </a:r>
            <a:r>
              <a:rPr lang="en-US" dirty="0"/>
              <a:t> = 'Yes’;</a:t>
            </a:r>
          </a:p>
          <a:p>
            <a:pPr>
              <a:defRPr sz="1600">
                <a:solidFill>
                  <a:srgbClr val="B4FFB4"/>
                </a:solidFill>
              </a:defRPr>
            </a:pPr>
            <a:endParaRPr lang="en-US" dirty="0"/>
          </a:p>
          <a:p>
            <a:pPr>
              <a:defRPr sz="1600">
                <a:solidFill>
                  <a:srgbClr val="B4FFB4"/>
                </a:solidFill>
              </a:defRPr>
            </a:pP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577840" cy="4480560"/>
          </a:xfrm>
          <a:prstGeom prst="roundRect">
            <a:avLst/>
          </a:prstGeom>
          <a:solidFill>
            <a:srgbClr val="1C1C1C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QUERY OUTPUT</a:t>
            </a: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97A1FD9-5AA7-8A70-47B5-5D485F993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7213" y="2746505"/>
            <a:ext cx="3500090" cy="30918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31AD912-0877-62DA-80CA-DBB9A4F443F9}"/>
              </a:ext>
            </a:extLst>
          </p:cNvPr>
          <p:cNvSpPr txBox="1"/>
          <p:nvPr/>
        </p:nvSpPr>
        <p:spPr>
          <a:xfrm>
            <a:off x="1945105" y="6347497"/>
            <a:ext cx="79969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Recommendation: Apply country-specific controls and periodic reassessment.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9. High-Value Transactions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Business Question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Transactions above ₹2,00,000.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5303520" cy="4480560"/>
          </a:xfrm>
          <a:prstGeom prst="roundRect">
            <a:avLst/>
          </a:prstGeom>
          <a:solidFill>
            <a:srgbClr val="212529"/>
          </a:solidFill>
          <a:ln>
            <a:solidFill>
              <a:srgbClr val="00A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SQL CODE</a:t>
            </a: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dirty="0"/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US" dirty="0"/>
              <a:t>SELECT</a:t>
            </a:r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US" dirty="0"/>
              <a:t>    </a:t>
            </a:r>
            <a:r>
              <a:rPr lang="en-US" dirty="0" err="1"/>
              <a:t>Transaction_ID</a:t>
            </a:r>
            <a:r>
              <a:rPr lang="en-US" dirty="0"/>
              <a:t>,</a:t>
            </a:r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US" dirty="0"/>
              <a:t>    </a:t>
            </a:r>
            <a:r>
              <a:rPr lang="en-US" dirty="0" err="1"/>
              <a:t>Customer_ID</a:t>
            </a:r>
            <a:r>
              <a:rPr lang="en-US" dirty="0"/>
              <a:t>,</a:t>
            </a:r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US" dirty="0"/>
              <a:t>    Amount</a:t>
            </a:r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US" dirty="0"/>
              <a:t>FROM Transactions</a:t>
            </a:r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US" dirty="0"/>
              <a:t>WHERE Amount &gt; 200000</a:t>
            </a:r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US" dirty="0"/>
              <a:t>ORDER BY Amount DESC;</a:t>
            </a:r>
          </a:p>
          <a:p>
            <a:pPr>
              <a:defRPr sz="1600">
                <a:solidFill>
                  <a:srgbClr val="B4FFB4"/>
                </a:solidFill>
              </a:defRPr>
            </a:pPr>
            <a:endParaRPr lang="en-US" dirty="0"/>
          </a:p>
          <a:p>
            <a:pPr>
              <a:defRPr sz="1600">
                <a:solidFill>
                  <a:srgbClr val="B4FFB4"/>
                </a:solidFill>
              </a:defRPr>
            </a:pPr>
            <a:endParaRPr lang="en-US" dirty="0"/>
          </a:p>
          <a:p>
            <a:pPr>
              <a:defRPr sz="1600">
                <a:solidFill>
                  <a:srgbClr val="B4FFB4"/>
                </a:solidFill>
              </a:defRPr>
            </a:pPr>
            <a:endParaRPr lang="en-US" dirty="0"/>
          </a:p>
          <a:p>
            <a:pPr>
              <a:defRPr sz="1600">
                <a:solidFill>
                  <a:srgbClr val="B4FFB4"/>
                </a:solidFill>
              </a:defRPr>
            </a:pP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577840" cy="4480560"/>
          </a:xfrm>
          <a:prstGeom prst="roundRect">
            <a:avLst/>
          </a:prstGeom>
          <a:solidFill>
            <a:srgbClr val="1C1C1C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QUERY OUTPUT</a:t>
            </a: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E1E31A-E2CA-F97A-40C5-56FE5B14F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5924" y="2514600"/>
            <a:ext cx="3238952" cy="34009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FEF4CE9-4D55-F6BD-5947-73A853E0A7AD}"/>
              </a:ext>
            </a:extLst>
          </p:cNvPr>
          <p:cNvSpPr txBox="1"/>
          <p:nvPr/>
        </p:nvSpPr>
        <p:spPr>
          <a:xfrm>
            <a:off x="1060383" y="6351508"/>
            <a:ext cx="103696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Recommendation: Review transactions against expected customer </a:t>
            </a:r>
            <a:r>
              <a:rPr lang="en-US" dirty="0" err="1">
                <a:solidFill>
                  <a:schemeClr val="bg1"/>
                </a:solidFill>
              </a:rPr>
              <a:t>behaviour</a:t>
            </a:r>
            <a:r>
              <a:rPr lang="en-US" dirty="0">
                <a:solidFill>
                  <a:schemeClr val="bg1"/>
                </a:solidFill>
              </a:rPr>
              <a:t> and investigate exceptions.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10. Top Customers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Business Question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Top 10 customers by transaction value.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5303520" cy="4480560"/>
          </a:xfrm>
          <a:prstGeom prst="roundRect">
            <a:avLst/>
          </a:prstGeom>
          <a:solidFill>
            <a:srgbClr val="212529"/>
          </a:solidFill>
          <a:ln>
            <a:solidFill>
              <a:srgbClr val="00A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SQL CODE</a:t>
            </a: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dirty="0"/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US" dirty="0"/>
              <a:t>SELECT</a:t>
            </a:r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US" dirty="0"/>
              <a:t>    </a:t>
            </a:r>
            <a:r>
              <a:rPr lang="en-US" dirty="0" err="1"/>
              <a:t>Customer_ID</a:t>
            </a:r>
            <a:r>
              <a:rPr lang="en-US" dirty="0"/>
              <a:t>,</a:t>
            </a:r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US" dirty="0"/>
              <a:t>    SUM(Amount) AS </a:t>
            </a:r>
            <a:r>
              <a:rPr lang="en-US" dirty="0" err="1"/>
              <a:t>Total_Amount</a:t>
            </a:r>
            <a:endParaRPr lang="en-US" dirty="0"/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US" dirty="0"/>
              <a:t>FROM Transactions</a:t>
            </a:r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US" dirty="0"/>
              <a:t>GROUP BY </a:t>
            </a:r>
            <a:r>
              <a:rPr lang="en-US" dirty="0" err="1"/>
              <a:t>Customer_ID</a:t>
            </a:r>
            <a:endParaRPr lang="en-US" dirty="0"/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US" dirty="0"/>
              <a:t>ORDER BY </a:t>
            </a:r>
            <a:r>
              <a:rPr lang="en-US" dirty="0" err="1"/>
              <a:t>Total_Amount</a:t>
            </a:r>
            <a:r>
              <a:rPr lang="en-US" dirty="0"/>
              <a:t> DESC</a:t>
            </a:r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US" dirty="0"/>
              <a:t>LIMIT 10;</a:t>
            </a:r>
          </a:p>
          <a:p>
            <a:pPr>
              <a:defRPr sz="1600">
                <a:solidFill>
                  <a:srgbClr val="B4FFB4"/>
                </a:solidFill>
              </a:defRPr>
            </a:pPr>
            <a:endParaRPr lang="en-US" dirty="0"/>
          </a:p>
          <a:p>
            <a:pPr>
              <a:defRPr sz="1600">
                <a:solidFill>
                  <a:srgbClr val="B4FFB4"/>
                </a:solidFill>
              </a:defRPr>
            </a:pP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577840" cy="4480560"/>
          </a:xfrm>
          <a:prstGeom prst="roundRect">
            <a:avLst/>
          </a:prstGeom>
          <a:solidFill>
            <a:srgbClr val="1C1C1C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QUERY OUTPUT</a:t>
            </a: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D9A802E-2255-4063-00AC-282E1982C6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4700" y="2721345"/>
            <a:ext cx="2779171" cy="307505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AB42D93-111F-2DDA-A5DF-0EF1E8EAC6C2}"/>
              </a:ext>
            </a:extLst>
          </p:cNvPr>
          <p:cNvSpPr txBox="1"/>
          <p:nvPr/>
        </p:nvSpPr>
        <p:spPr>
          <a:xfrm>
            <a:off x="2119980" y="6351508"/>
            <a:ext cx="79488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Recommendation: Monitor these accounts using ongoing transaction surveillance.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11. Country-wise Customers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Business Question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Count customers by country.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5303520" cy="4480560"/>
          </a:xfrm>
          <a:prstGeom prst="roundRect">
            <a:avLst/>
          </a:prstGeom>
          <a:solidFill>
            <a:srgbClr val="212529"/>
          </a:solidFill>
          <a:ln>
            <a:solidFill>
              <a:srgbClr val="00A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SQL CODE</a:t>
            </a: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dirty="0"/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US" dirty="0"/>
              <a:t>SELECT</a:t>
            </a:r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US" dirty="0"/>
              <a:t>    Country,</a:t>
            </a:r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US" dirty="0"/>
              <a:t>    COUNT(*) AS Customers</a:t>
            </a:r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US" dirty="0"/>
              <a:t>FROM </a:t>
            </a:r>
            <a:r>
              <a:rPr lang="en-US" dirty="0" err="1"/>
              <a:t>Customer_Master</a:t>
            </a:r>
            <a:endParaRPr lang="en-US" dirty="0"/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US" dirty="0"/>
              <a:t>GROUP BY Country</a:t>
            </a:r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US" dirty="0"/>
              <a:t>ORDER BY Customers DESC</a:t>
            </a:r>
            <a:r>
              <a:rPr dirty="0"/>
              <a:t>;</a:t>
            </a:r>
            <a:endParaRPr lang="en-IN" dirty="0"/>
          </a:p>
          <a:p>
            <a:pPr>
              <a:defRPr sz="1600">
                <a:solidFill>
                  <a:srgbClr val="B4FFB4"/>
                </a:solidFill>
              </a:defRPr>
            </a:pPr>
            <a:endParaRPr lang="en-IN" dirty="0"/>
          </a:p>
          <a:p>
            <a:pPr>
              <a:defRPr sz="1600">
                <a:solidFill>
                  <a:srgbClr val="B4FFB4"/>
                </a:solidFill>
              </a:defRPr>
            </a:pPr>
            <a:endParaRPr lang="en-IN" dirty="0"/>
          </a:p>
          <a:p>
            <a:pPr>
              <a:defRPr sz="1600">
                <a:solidFill>
                  <a:srgbClr val="B4FFB4"/>
                </a:solidFill>
              </a:defRPr>
            </a:pP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577840" cy="4480560"/>
          </a:xfrm>
          <a:prstGeom prst="roundRect">
            <a:avLst/>
          </a:prstGeom>
          <a:solidFill>
            <a:srgbClr val="1C1C1C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QUERY OUTPUT</a:t>
            </a: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D8A5CD-EFCE-BDA1-1E42-50EC41A9BB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3212" y="2973966"/>
            <a:ext cx="2955355" cy="25812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4B92929-0151-2769-D3BC-7872F1E14DB1}"/>
              </a:ext>
            </a:extLst>
          </p:cNvPr>
          <p:cNvSpPr txBox="1"/>
          <p:nvPr/>
        </p:nvSpPr>
        <p:spPr>
          <a:xfrm>
            <a:off x="1832810" y="6333506"/>
            <a:ext cx="82215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Recommendation: Allocate compliance resources according to geographic exposure.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12. Risk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Business Question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Distribution by risk level.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5303520" cy="4480560"/>
          </a:xfrm>
          <a:prstGeom prst="roundRect">
            <a:avLst/>
          </a:prstGeom>
          <a:solidFill>
            <a:srgbClr val="212529"/>
          </a:solidFill>
          <a:ln>
            <a:solidFill>
              <a:srgbClr val="00A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SQL CODE</a:t>
            </a: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dirty="0"/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US" dirty="0"/>
              <a:t>SELECT</a:t>
            </a:r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US" dirty="0"/>
              <a:t>    </a:t>
            </a:r>
            <a:r>
              <a:rPr lang="en-US" dirty="0" err="1"/>
              <a:t>Risk_Level</a:t>
            </a:r>
            <a:r>
              <a:rPr lang="en-US" dirty="0"/>
              <a:t>,</a:t>
            </a:r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US" dirty="0"/>
              <a:t>    COUNT(*) AS Customers</a:t>
            </a:r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US" dirty="0"/>
              <a:t>FROM </a:t>
            </a:r>
            <a:r>
              <a:rPr lang="en-US" dirty="0" err="1"/>
              <a:t>AML_Risk</a:t>
            </a:r>
            <a:endParaRPr lang="en-US" dirty="0"/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US" dirty="0"/>
              <a:t>GROUP BY </a:t>
            </a:r>
            <a:r>
              <a:rPr lang="en-US" dirty="0" err="1"/>
              <a:t>Risk_Level</a:t>
            </a:r>
            <a:r>
              <a:rPr lang="en-US" dirty="0"/>
              <a:t>;</a:t>
            </a:r>
          </a:p>
          <a:p>
            <a:pPr>
              <a:defRPr sz="1600">
                <a:solidFill>
                  <a:srgbClr val="B4FFB4"/>
                </a:solidFill>
              </a:defRPr>
            </a:pPr>
            <a:endParaRPr lang="en-US" dirty="0"/>
          </a:p>
          <a:p>
            <a:pPr>
              <a:defRPr sz="1600">
                <a:solidFill>
                  <a:srgbClr val="B4FFB4"/>
                </a:solidFill>
              </a:defRPr>
            </a:pPr>
            <a:endParaRPr lang="en-US" dirty="0"/>
          </a:p>
          <a:p>
            <a:pPr>
              <a:defRPr sz="1600">
                <a:solidFill>
                  <a:srgbClr val="B4FFB4"/>
                </a:solidFill>
              </a:defRPr>
            </a:pP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577840" cy="4480560"/>
          </a:xfrm>
          <a:prstGeom prst="roundRect">
            <a:avLst/>
          </a:prstGeom>
          <a:solidFill>
            <a:srgbClr val="1C1C1C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QUERY OUTPUT</a:t>
            </a: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8CBF102-2D3F-2354-E1BC-B09EAE1DF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6039" y="3022776"/>
            <a:ext cx="3293965" cy="205872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3DED76-CDF9-17EF-0CDD-81383D75B556}"/>
              </a:ext>
            </a:extLst>
          </p:cNvPr>
          <p:cNvSpPr txBox="1"/>
          <p:nvPr/>
        </p:nvSpPr>
        <p:spPr>
          <a:xfrm>
            <a:off x="674851" y="6351508"/>
            <a:ext cx="108391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Recommendation: Focus compliance reviews on high-risk customers while maintaining periodic reviews for others.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13. Occupation-wise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Business Question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Analyze risk by occupation.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5303520" cy="4480560"/>
          </a:xfrm>
          <a:prstGeom prst="roundRect">
            <a:avLst/>
          </a:prstGeom>
          <a:solidFill>
            <a:srgbClr val="212529"/>
          </a:solidFill>
          <a:ln>
            <a:solidFill>
              <a:srgbClr val="00A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SQL CODE</a:t>
            </a: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dirty="0"/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US" dirty="0"/>
              <a:t>SELECT</a:t>
            </a:r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US" dirty="0"/>
              <a:t>    </a:t>
            </a:r>
            <a:r>
              <a:rPr lang="en-US" dirty="0" err="1"/>
              <a:t>c.Occupation</a:t>
            </a:r>
            <a:r>
              <a:rPr lang="en-US" dirty="0"/>
              <a:t>,</a:t>
            </a:r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US" dirty="0"/>
              <a:t>    </a:t>
            </a:r>
            <a:r>
              <a:rPr lang="en-US" dirty="0" err="1"/>
              <a:t>a.Risk_Level</a:t>
            </a:r>
            <a:r>
              <a:rPr lang="en-US" dirty="0"/>
              <a:t>,</a:t>
            </a:r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US" dirty="0"/>
              <a:t>    COUNT(*) AS Customers</a:t>
            </a:r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US" dirty="0"/>
              <a:t>FROM </a:t>
            </a:r>
            <a:r>
              <a:rPr lang="en-US" dirty="0" err="1"/>
              <a:t>Customer_Master</a:t>
            </a:r>
            <a:r>
              <a:rPr lang="en-US" dirty="0"/>
              <a:t> c</a:t>
            </a:r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US" dirty="0"/>
              <a:t>JOIN </a:t>
            </a:r>
            <a:r>
              <a:rPr lang="en-US" dirty="0" err="1"/>
              <a:t>AML_Risk</a:t>
            </a:r>
            <a:r>
              <a:rPr lang="en-US" dirty="0"/>
              <a:t> a</a:t>
            </a:r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US" dirty="0"/>
              <a:t>ON </a:t>
            </a:r>
            <a:r>
              <a:rPr lang="en-US" dirty="0" err="1"/>
              <a:t>c.Customer_ID</a:t>
            </a:r>
            <a:r>
              <a:rPr lang="en-US" dirty="0"/>
              <a:t> = </a:t>
            </a:r>
            <a:r>
              <a:rPr lang="en-US" dirty="0" err="1"/>
              <a:t>a.Customer_ID</a:t>
            </a:r>
            <a:endParaRPr lang="en-US" dirty="0"/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US" dirty="0"/>
              <a:t>GROUP BY </a:t>
            </a:r>
            <a:r>
              <a:rPr lang="en-US" dirty="0" err="1"/>
              <a:t>c.Occupation</a:t>
            </a:r>
            <a:r>
              <a:rPr lang="en-US" dirty="0"/>
              <a:t>, </a:t>
            </a:r>
            <a:r>
              <a:rPr lang="en-US" dirty="0" err="1"/>
              <a:t>a.Risk_Level</a:t>
            </a:r>
            <a:endParaRPr lang="en-US" dirty="0"/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US" dirty="0"/>
              <a:t>ORDER BY </a:t>
            </a:r>
            <a:r>
              <a:rPr lang="en-US" dirty="0" err="1"/>
              <a:t>c.Occupation</a:t>
            </a:r>
            <a:r>
              <a:rPr dirty="0"/>
              <a:t>;</a:t>
            </a:r>
            <a:endParaRPr lang="en-IN" dirty="0"/>
          </a:p>
          <a:p>
            <a:pPr>
              <a:defRPr sz="1600">
                <a:solidFill>
                  <a:srgbClr val="B4FFB4"/>
                </a:solidFill>
              </a:defRPr>
            </a:pPr>
            <a:endParaRPr lang="en-IN" dirty="0"/>
          </a:p>
          <a:p>
            <a:pPr>
              <a:defRPr sz="1600">
                <a:solidFill>
                  <a:srgbClr val="B4FFB4"/>
                </a:solidFill>
              </a:defRPr>
            </a:pP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577840" cy="4480560"/>
          </a:xfrm>
          <a:prstGeom prst="roundRect">
            <a:avLst/>
          </a:prstGeom>
          <a:solidFill>
            <a:srgbClr val="1C1C1C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QUERY OUTPUT </a:t>
            </a: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E810BD-968F-8CDD-8F3C-52FDAADDB7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8971" y="2723549"/>
            <a:ext cx="2892857" cy="31463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2677C25-F947-1B08-66E4-EC981EDE48A7}"/>
              </a:ext>
            </a:extLst>
          </p:cNvPr>
          <p:cNvSpPr txBox="1"/>
          <p:nvPr/>
        </p:nvSpPr>
        <p:spPr>
          <a:xfrm>
            <a:off x="1606633" y="6351508"/>
            <a:ext cx="89755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Recommendation: Include occupation as one factor in the overall customer risk assessment.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14. Average Transaction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Business Question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Average transaction amount.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5303520" cy="4480560"/>
          </a:xfrm>
          <a:prstGeom prst="roundRect">
            <a:avLst/>
          </a:prstGeom>
          <a:solidFill>
            <a:srgbClr val="212529"/>
          </a:solidFill>
          <a:ln>
            <a:solidFill>
              <a:srgbClr val="00A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SQL CODE</a:t>
            </a: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dirty="0"/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US" dirty="0"/>
              <a:t>SELECT</a:t>
            </a:r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US" dirty="0"/>
              <a:t>    </a:t>
            </a:r>
            <a:r>
              <a:rPr lang="en-US" dirty="0" err="1"/>
              <a:t>Customer_ID</a:t>
            </a:r>
            <a:r>
              <a:rPr lang="en-US" dirty="0"/>
              <a:t>,</a:t>
            </a:r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US" dirty="0"/>
              <a:t>    AVG(Amount) AS </a:t>
            </a:r>
            <a:r>
              <a:rPr lang="en-US" dirty="0" err="1"/>
              <a:t>Average_Transaction</a:t>
            </a:r>
            <a:endParaRPr lang="en-US" dirty="0"/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US" dirty="0"/>
              <a:t>FROM Transactions</a:t>
            </a:r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US" dirty="0"/>
              <a:t>GROUP BY </a:t>
            </a:r>
            <a:r>
              <a:rPr lang="en-US" dirty="0" err="1"/>
              <a:t>Customer_ID</a:t>
            </a:r>
            <a:endParaRPr lang="en-US" dirty="0"/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US" dirty="0"/>
              <a:t>ORDER BY </a:t>
            </a:r>
            <a:r>
              <a:rPr lang="en-US" dirty="0" err="1"/>
              <a:t>Average_Transaction</a:t>
            </a:r>
            <a:r>
              <a:rPr lang="en-US" dirty="0"/>
              <a:t> DESC;</a:t>
            </a:r>
          </a:p>
          <a:p>
            <a:pPr>
              <a:defRPr sz="1600">
                <a:solidFill>
                  <a:srgbClr val="B4FFB4"/>
                </a:solidFill>
              </a:defRPr>
            </a:pPr>
            <a:endParaRPr lang="en-US" dirty="0"/>
          </a:p>
          <a:p>
            <a:pPr>
              <a:defRPr sz="1600">
                <a:solidFill>
                  <a:srgbClr val="B4FFB4"/>
                </a:solidFill>
              </a:defRPr>
            </a:pPr>
            <a:endParaRPr lang="en-US" dirty="0"/>
          </a:p>
          <a:p>
            <a:pPr>
              <a:defRPr sz="1600">
                <a:solidFill>
                  <a:srgbClr val="B4FFB4"/>
                </a:solidFill>
              </a:defRPr>
            </a:pPr>
            <a:endParaRPr lang="en-US" dirty="0"/>
          </a:p>
          <a:p>
            <a:pPr>
              <a:defRPr sz="1600">
                <a:solidFill>
                  <a:srgbClr val="B4FFB4"/>
                </a:solidFill>
              </a:defRPr>
            </a:pP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577840" cy="4480560"/>
          </a:xfrm>
          <a:prstGeom prst="roundRect">
            <a:avLst/>
          </a:prstGeom>
          <a:solidFill>
            <a:srgbClr val="1C1C1C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QUERY OUTPUT</a:t>
            </a: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66985A-F1B4-D5A1-AE26-224B1B093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7398" y="2514600"/>
            <a:ext cx="2896004" cy="342947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733AF41-9B76-936B-FA9B-3545B84101F8}"/>
              </a:ext>
            </a:extLst>
          </p:cNvPr>
          <p:cNvSpPr txBox="1"/>
          <p:nvPr/>
        </p:nvSpPr>
        <p:spPr>
          <a:xfrm>
            <a:off x="1820779" y="6304109"/>
            <a:ext cx="93605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Recommendation: Use threshold alerts to identify deviations from normal </a:t>
            </a:r>
            <a:r>
              <a:rPr lang="en-US" dirty="0" err="1">
                <a:solidFill>
                  <a:schemeClr val="bg1"/>
                </a:solidFill>
              </a:rPr>
              <a:t>behaviour</a:t>
            </a:r>
            <a:r>
              <a:rPr lang="en-US" dirty="0">
                <a:solidFill>
                  <a:schemeClr val="bg1"/>
                </a:solidFill>
              </a:rPr>
              <a:t>.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15. Customers Requiring EDD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Business Question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Identify customers requiring Enhanced Due Diligence.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5303520" cy="4480560"/>
          </a:xfrm>
          <a:prstGeom prst="roundRect">
            <a:avLst/>
          </a:prstGeom>
          <a:solidFill>
            <a:srgbClr val="212529"/>
          </a:solidFill>
          <a:ln>
            <a:solidFill>
              <a:srgbClr val="00A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SQL CODE</a:t>
            </a: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dirty="0"/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IN" dirty="0"/>
              <a:t>SELECT</a:t>
            </a:r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IN" dirty="0"/>
              <a:t>    </a:t>
            </a:r>
            <a:r>
              <a:rPr lang="en-IN" dirty="0" err="1"/>
              <a:t>c.Customer_ID</a:t>
            </a:r>
            <a:r>
              <a:rPr lang="en-IN" dirty="0"/>
              <a:t>,</a:t>
            </a:r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IN" dirty="0"/>
              <a:t>    </a:t>
            </a:r>
            <a:r>
              <a:rPr lang="en-IN" dirty="0" err="1"/>
              <a:t>c.Customer_Name</a:t>
            </a:r>
            <a:r>
              <a:rPr lang="en-IN" dirty="0"/>
              <a:t>,</a:t>
            </a:r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IN" dirty="0"/>
              <a:t>    </a:t>
            </a:r>
            <a:r>
              <a:rPr lang="en-IN" dirty="0" err="1"/>
              <a:t>a.Risk_Level</a:t>
            </a:r>
            <a:r>
              <a:rPr lang="en-IN" dirty="0"/>
              <a:t>,</a:t>
            </a:r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IN" dirty="0"/>
              <a:t>    </a:t>
            </a:r>
            <a:r>
              <a:rPr lang="en-IN" dirty="0" err="1"/>
              <a:t>a.PEP</a:t>
            </a:r>
            <a:r>
              <a:rPr lang="en-IN" dirty="0"/>
              <a:t>,</a:t>
            </a:r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IN" dirty="0"/>
              <a:t>    </a:t>
            </a:r>
            <a:r>
              <a:rPr lang="en-IN" dirty="0" err="1"/>
              <a:t>a.Sanction_Match</a:t>
            </a:r>
            <a:endParaRPr lang="en-IN" dirty="0"/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IN" dirty="0"/>
              <a:t>FROM </a:t>
            </a:r>
            <a:r>
              <a:rPr lang="en-IN" dirty="0" err="1"/>
              <a:t>Customer_Master</a:t>
            </a:r>
            <a:r>
              <a:rPr lang="en-IN" dirty="0"/>
              <a:t> c</a:t>
            </a:r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IN" dirty="0"/>
              <a:t>JOIN </a:t>
            </a:r>
            <a:r>
              <a:rPr lang="en-IN" dirty="0" err="1"/>
              <a:t>AML_Risk</a:t>
            </a:r>
            <a:r>
              <a:rPr lang="en-IN" dirty="0"/>
              <a:t> a</a:t>
            </a:r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IN" dirty="0"/>
              <a:t>ON </a:t>
            </a:r>
            <a:r>
              <a:rPr lang="en-IN" dirty="0" err="1"/>
              <a:t>c.Customer_ID</a:t>
            </a:r>
            <a:r>
              <a:rPr lang="en-IN" dirty="0"/>
              <a:t> = </a:t>
            </a:r>
            <a:r>
              <a:rPr lang="en-IN" dirty="0" err="1"/>
              <a:t>a.Customer_ID</a:t>
            </a:r>
            <a:endParaRPr lang="en-IN" dirty="0"/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IN" dirty="0"/>
              <a:t>WHERE </a:t>
            </a:r>
            <a:r>
              <a:rPr lang="en-IN" dirty="0" err="1"/>
              <a:t>a.Risk_Level</a:t>
            </a:r>
            <a:r>
              <a:rPr lang="en-IN" dirty="0"/>
              <a:t> = 'High'</a:t>
            </a:r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IN" dirty="0"/>
              <a:t>   OR </a:t>
            </a:r>
            <a:r>
              <a:rPr lang="en-IN" dirty="0" err="1"/>
              <a:t>a.PEP</a:t>
            </a:r>
            <a:r>
              <a:rPr lang="en-IN" dirty="0"/>
              <a:t> = 'Yes'</a:t>
            </a:r>
          </a:p>
          <a:p>
            <a:pPr>
              <a:defRPr sz="1600">
                <a:solidFill>
                  <a:srgbClr val="B4FFB4"/>
                </a:solidFill>
              </a:defRPr>
            </a:pPr>
            <a:r>
              <a:rPr lang="en-IN" dirty="0"/>
              <a:t>   OR </a:t>
            </a:r>
            <a:r>
              <a:rPr lang="en-IN" dirty="0" err="1"/>
              <a:t>a.Sanction_Match</a:t>
            </a:r>
            <a:r>
              <a:rPr lang="en-IN" dirty="0"/>
              <a:t> = 'Yes’;</a:t>
            </a:r>
          </a:p>
          <a:p>
            <a:pPr>
              <a:defRPr sz="1600">
                <a:solidFill>
                  <a:srgbClr val="B4FFB4"/>
                </a:solidFill>
              </a:defRPr>
            </a:pP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577840" cy="4480560"/>
          </a:xfrm>
          <a:prstGeom prst="roundRect">
            <a:avLst/>
          </a:prstGeom>
          <a:solidFill>
            <a:srgbClr val="1C1C1C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QUERY OUTPUT </a:t>
            </a: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800" b="1">
                <a:solidFill>
                  <a:srgbClr val="FFFFFF"/>
                </a:solidFill>
              </a:defRPr>
            </a:pP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8387FF-2E11-C8E4-511A-9A2DDD84D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6322" y="2426110"/>
            <a:ext cx="4045233" cy="342408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F913AA6-1D23-2239-0A0E-6DE86BFBA693}"/>
              </a:ext>
            </a:extLst>
          </p:cNvPr>
          <p:cNvSpPr txBox="1"/>
          <p:nvPr/>
        </p:nvSpPr>
        <p:spPr>
          <a:xfrm>
            <a:off x="1580146" y="6326466"/>
            <a:ext cx="11927305" cy="390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dirty="0">
                <a:solidFill>
                  <a:schemeClr val="bg1"/>
                </a:solidFill>
              </a:rPr>
              <a:t>Recommendation: Complete EDD before onboarding or continuing the business relationship.</a:t>
            </a:r>
            <a:endParaRPr lang="en-IN" sz="1800" dirty="0">
              <a:solidFill>
                <a:schemeClr val="bg1"/>
              </a:solidFill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5">
                <a:lumMod val="20000"/>
                <a:lumOff val="80000"/>
              </a:schemeClr>
            </a:gs>
            <a:gs pos="0">
              <a:schemeClr val="accent5">
                <a:lumMod val="60000"/>
                <a:lumOff val="4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54BFC90-64CD-0C7B-C390-28325CCF519A}"/>
              </a:ext>
            </a:extLst>
          </p:cNvPr>
          <p:cNvSpPr txBox="1"/>
          <p:nvPr/>
        </p:nvSpPr>
        <p:spPr>
          <a:xfrm>
            <a:off x="176463" y="208547"/>
            <a:ext cx="11774905" cy="4038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  <a:buNone/>
            </a:pPr>
            <a:r>
              <a:rPr lang="en-US" sz="2400" b="1" dirty="0">
                <a:solidFill>
                  <a:srgbClr val="4F81BD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Overall Business Recommendations</a:t>
            </a:r>
            <a:endParaRPr lang="en-IN" sz="2400" b="1" dirty="0">
              <a:solidFill>
                <a:srgbClr val="4F81BD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Improve KYC completion rates through proactive document collection.</a:t>
            </a:r>
            <a:endParaRPr lang="en-IN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Automate alerts for expiring KYC documents.</a:t>
            </a:r>
            <a:endParaRPr lang="en-IN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Perform regular PEP and sanctions screening.</a:t>
            </a:r>
            <a:endParaRPr lang="en-IN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Implement a risk-based review schedule for high-risk customers.</a:t>
            </a:r>
            <a:endParaRPr lang="en-IN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Monitor high-value transactions using automated AML rules.</a:t>
            </a:r>
            <a:endParaRPr lang="en-IN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Use interactive Power BI dashboards for continuous compliance reporting.</a:t>
            </a:r>
            <a:endParaRPr lang="en-IN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1000"/>
              </a:spcBef>
              <a:buNone/>
            </a:pPr>
            <a:r>
              <a:rPr lang="en-US" sz="2400" b="1" dirty="0">
                <a:solidFill>
                  <a:srgbClr val="4F81BD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Conclusion</a:t>
            </a:r>
            <a:endParaRPr lang="en-IN" sz="2400" b="1" dirty="0">
              <a:solidFill>
                <a:srgbClr val="4F81BD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The project demonstrates practical application of SQL, Excel, and Power BI in a KYC/AML context. It highlights data validation, compliance monitoring, customer risk assessment, and business reporting skills relevant to entry-level KYC/AML Analyst roles.</a:t>
            </a:r>
            <a:endParaRPr lang="en-IN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1439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1143</Words>
  <Application>Microsoft Office PowerPoint</Application>
  <PresentationFormat>Custom</PresentationFormat>
  <Paragraphs>376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SANYAM SHUKLA</cp:lastModifiedBy>
  <cp:revision>5</cp:revision>
  <dcterms:created xsi:type="dcterms:W3CDTF">2013-01-27T09:14:16Z</dcterms:created>
  <dcterms:modified xsi:type="dcterms:W3CDTF">2026-07-02T15:37:58Z</dcterms:modified>
  <cp:category/>
</cp:coreProperties>
</file>